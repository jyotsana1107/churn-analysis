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9" r:id="rId3"/>
    <p:sldId id="260" r:id="rId4"/>
    <p:sldId id="261" r:id="rId5"/>
    <p:sldId id="257" r:id="rId6"/>
    <p:sldId id="258"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52FF915-FAEF-47A7-A6CE-434D00F06FC3}" type="datetimeFigureOut">
              <a:rPr lang="en-IN" smtClean="0"/>
              <a:t>23-07-2026</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1774297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52FF915-FAEF-47A7-A6CE-434D00F06FC3}"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4201918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52FF915-FAEF-47A7-A6CE-434D00F06FC3}"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1287733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52FF915-FAEF-47A7-A6CE-434D00F06FC3}"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1969362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52FF915-FAEF-47A7-A6CE-434D00F06FC3}" type="datetimeFigureOut">
              <a:rPr lang="en-IN" smtClean="0"/>
              <a:t>23-07-2026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2587187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52FF915-FAEF-47A7-A6CE-434D00F06FC3}" type="datetimeFigureOut">
              <a:rPr lang="en-IN" smtClean="0"/>
              <a:t>23-07-2026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3390706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2FF915-FAEF-47A7-A6CE-434D00F06FC3}" type="datetimeFigureOut">
              <a:rPr lang="en-IN" smtClean="0"/>
              <a:t>23-07-2026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3709620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52FF915-FAEF-47A7-A6CE-434D00F06FC3}"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4018403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52FF915-FAEF-47A7-A6CE-434D00F06FC3}"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2948830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52FF915-FAEF-47A7-A6CE-434D00F06FC3}"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2886373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52FF915-FAEF-47A7-A6CE-434D00F06FC3}"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4206476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52FF915-FAEF-47A7-A6CE-434D00F06FC3}"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3BB4C5-BA2C-4269-A176-AD620E46A0C2}"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17943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52FF915-FAEF-47A7-A6CE-434D00F06FC3}"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3434515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352FF915-FAEF-47A7-A6CE-434D00F06FC3}" type="datetimeFigureOut">
              <a:rPr lang="en-IN" smtClean="0"/>
              <a:t>23-07-2026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1307080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352FF915-FAEF-47A7-A6CE-434D00F06FC3}" type="datetimeFigureOut">
              <a:rPr lang="en-IN" smtClean="0"/>
              <a:t>23-07-2026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2266550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52FF915-FAEF-47A7-A6CE-434D00F06FC3}"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1327113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52FF915-FAEF-47A7-A6CE-434D00F06FC3}"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3BB4C5-BA2C-4269-A176-AD620E46A0C2}" type="slidenum">
              <a:rPr lang="en-IN" smtClean="0"/>
              <a:t>‹#›</a:t>
            </a:fld>
            <a:endParaRPr lang="en-IN"/>
          </a:p>
        </p:txBody>
      </p:sp>
    </p:spTree>
    <p:extLst>
      <p:ext uri="{BB962C8B-B14F-4D97-AF65-F5344CB8AC3E}">
        <p14:creationId xmlns:p14="http://schemas.microsoft.com/office/powerpoint/2010/main" val="3466068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52FF915-FAEF-47A7-A6CE-434D00F06FC3}" type="datetimeFigureOut">
              <a:rPr lang="en-IN" smtClean="0"/>
              <a:t>23-07-2026</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C3BB4C5-BA2C-4269-A176-AD620E46A0C2}" type="slidenum">
              <a:rPr lang="en-IN" smtClean="0"/>
              <a:t>‹#›</a:t>
            </a:fld>
            <a:endParaRPr lang="en-IN"/>
          </a:p>
        </p:txBody>
      </p:sp>
    </p:spTree>
    <p:extLst>
      <p:ext uri="{BB962C8B-B14F-4D97-AF65-F5344CB8AC3E}">
        <p14:creationId xmlns:p14="http://schemas.microsoft.com/office/powerpoint/2010/main" val="1138457132"/>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linkedin.com/in/jyotsanaanand11" TargetMode="External"/><Relationship Id="rId2" Type="http://schemas.openxmlformats.org/officeDocument/2006/relationships/hyperlink" Target="https://github.com/Jyotsana1107/"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2841" y="960782"/>
            <a:ext cx="9825246" cy="2985811"/>
          </a:xfrm>
        </p:spPr>
        <p:txBody>
          <a:bodyPr/>
          <a:lstStyle/>
          <a:p>
            <a:pPr algn="ctr"/>
            <a:r>
              <a:rPr lang="en-IN" b="1" dirty="0" smtClean="0"/>
              <a:t>IBM TELCO customer</a:t>
            </a:r>
            <a:br>
              <a:rPr lang="en-IN" b="1" dirty="0" smtClean="0"/>
            </a:br>
            <a:r>
              <a:rPr lang="en-IN" b="1" dirty="0" smtClean="0"/>
              <a:t>CHURN </a:t>
            </a:r>
            <a:r>
              <a:rPr lang="en-IN" b="1" dirty="0" err="1" smtClean="0"/>
              <a:t>ANALYsIS</a:t>
            </a:r>
            <a:r>
              <a:rPr lang="en-IN" b="1" dirty="0" smtClean="0"/>
              <a:t/>
            </a:r>
            <a:br>
              <a:rPr lang="en-IN" b="1" dirty="0" smtClean="0"/>
            </a:br>
            <a:endParaRPr lang="en-IN" b="1" dirty="0"/>
          </a:p>
        </p:txBody>
      </p:sp>
      <p:sp>
        <p:nvSpPr>
          <p:cNvPr id="3" name="Subtitle 2"/>
          <p:cNvSpPr>
            <a:spLocks noGrp="1"/>
          </p:cNvSpPr>
          <p:nvPr>
            <p:ph type="subTitle" idx="1"/>
          </p:nvPr>
        </p:nvSpPr>
        <p:spPr>
          <a:xfrm>
            <a:off x="1558372" y="3641793"/>
            <a:ext cx="9454185" cy="2268675"/>
          </a:xfrm>
        </p:spPr>
        <p:txBody>
          <a:bodyPr>
            <a:normAutofit/>
          </a:bodyPr>
          <a:lstStyle/>
          <a:p>
            <a:pPr algn="ctr"/>
            <a:r>
              <a:rPr lang="en-IN" sz="2400" dirty="0" smtClean="0"/>
              <a:t>Python | </a:t>
            </a:r>
            <a:r>
              <a:rPr lang="en-IN" sz="2400" dirty="0" err="1" smtClean="0"/>
              <a:t>sql</a:t>
            </a:r>
            <a:r>
              <a:rPr lang="en-IN" sz="2400" dirty="0" smtClean="0"/>
              <a:t> | Excel | power bi</a:t>
            </a:r>
            <a:endParaRPr lang="en-IN" sz="2400" dirty="0"/>
          </a:p>
          <a:p>
            <a:pPr algn="ctr"/>
            <a:r>
              <a:rPr lang="en-IN" dirty="0" smtClean="0"/>
              <a:t>By </a:t>
            </a:r>
            <a:r>
              <a:rPr lang="en-IN" dirty="0" err="1" smtClean="0"/>
              <a:t>jyotsana</a:t>
            </a:r>
            <a:endParaRPr lang="en-IN" dirty="0" smtClean="0"/>
          </a:p>
          <a:p>
            <a:pPr algn="ctr"/>
            <a:r>
              <a:rPr lang="en-IN" sz="1700" dirty="0">
                <a:hlinkClick r:id="rId2"/>
              </a:rPr>
              <a:t>https://github.com/Jyotsana1107</a:t>
            </a:r>
            <a:r>
              <a:rPr lang="en-IN" sz="1700" dirty="0" smtClean="0">
                <a:hlinkClick r:id="rId2"/>
              </a:rPr>
              <a:t>/</a:t>
            </a:r>
            <a:endParaRPr lang="en-IN" sz="1700" dirty="0" smtClean="0"/>
          </a:p>
          <a:p>
            <a:pPr algn="ctr"/>
            <a:r>
              <a:rPr lang="en-IN" sz="1700" u="sng" dirty="0" smtClean="0">
                <a:effectLst/>
                <a:hlinkClick r:id="rId3"/>
              </a:rPr>
              <a:t>www.linkedin.com/in/jyotsanaanand11</a:t>
            </a:r>
            <a:endParaRPr lang="en-IN" sz="1700" dirty="0"/>
          </a:p>
        </p:txBody>
      </p:sp>
    </p:spTree>
    <p:extLst>
      <p:ext uri="{BB962C8B-B14F-4D97-AF65-F5344CB8AC3E}">
        <p14:creationId xmlns:p14="http://schemas.microsoft.com/office/powerpoint/2010/main" val="507329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1" y="1314256"/>
            <a:ext cx="9905998" cy="1478570"/>
          </a:xfrm>
        </p:spPr>
        <p:txBody>
          <a:bodyPr/>
          <a:lstStyle/>
          <a:p>
            <a:pPr algn="ctr"/>
            <a:r>
              <a:rPr lang="en-US" b="1" dirty="0" smtClean="0"/>
              <a:t>Executive Summary</a:t>
            </a:r>
            <a:endParaRPr lang="en-IN" b="1" dirty="0"/>
          </a:p>
        </p:txBody>
      </p:sp>
      <p:sp>
        <p:nvSpPr>
          <p:cNvPr id="3" name="Content Placeholder 2"/>
          <p:cNvSpPr>
            <a:spLocks noGrp="1"/>
          </p:cNvSpPr>
          <p:nvPr>
            <p:ph idx="1"/>
          </p:nvPr>
        </p:nvSpPr>
        <p:spPr>
          <a:xfrm>
            <a:off x="1225099" y="2792826"/>
            <a:ext cx="9738623" cy="3236913"/>
          </a:xfrm>
        </p:spPr>
        <p:txBody>
          <a:bodyPr>
            <a:normAutofit/>
          </a:bodyPr>
          <a:lstStyle/>
          <a:p>
            <a:pPr marL="0" indent="0" algn="just">
              <a:buNone/>
            </a:pPr>
            <a:r>
              <a:rPr lang="en-US" sz="2000" dirty="0"/>
              <a:t>This report details the comprehensive analysis of customer churn undertaken to identify key drivers and provide actionable insights. By leveraging SQL for data extraction and manipulation, Power BI for visualization, and Excel for supplementary analysis, we have gained a deep understanding of why customers are leaving. The findings presented herein will guide strategic decision-making to improve customer retention and drive sustainable business growth. </a:t>
            </a:r>
            <a:endParaRPr lang="en-IN" sz="2000" dirty="0"/>
          </a:p>
          <a:p>
            <a:pPr marL="0" indent="0" algn="just">
              <a:buNone/>
            </a:pPr>
            <a:endParaRPr lang="en-IN" sz="2000" dirty="0"/>
          </a:p>
        </p:txBody>
      </p:sp>
    </p:spTree>
    <p:extLst>
      <p:ext uri="{BB962C8B-B14F-4D97-AF65-F5344CB8AC3E}">
        <p14:creationId xmlns:p14="http://schemas.microsoft.com/office/powerpoint/2010/main" val="1293374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9135" y="1552795"/>
            <a:ext cx="9905998" cy="1478570"/>
          </a:xfrm>
        </p:spPr>
        <p:txBody>
          <a:bodyPr/>
          <a:lstStyle/>
          <a:p>
            <a:pPr algn="ctr"/>
            <a:r>
              <a:rPr lang="en-US" b="1" dirty="0" smtClean="0"/>
              <a:t>Business problem</a:t>
            </a:r>
            <a:endParaRPr lang="en-IN" b="1" dirty="0"/>
          </a:p>
        </p:txBody>
      </p:sp>
      <p:sp>
        <p:nvSpPr>
          <p:cNvPr id="3" name="Content Placeholder 2"/>
          <p:cNvSpPr>
            <a:spLocks noGrp="1"/>
          </p:cNvSpPr>
          <p:nvPr>
            <p:ph idx="1"/>
          </p:nvPr>
        </p:nvSpPr>
        <p:spPr>
          <a:xfrm>
            <a:off x="1655796" y="2859087"/>
            <a:ext cx="8813422" cy="2561052"/>
          </a:xfrm>
        </p:spPr>
        <p:txBody>
          <a:bodyPr>
            <a:normAutofit/>
          </a:bodyPr>
          <a:lstStyle/>
          <a:p>
            <a:pPr marL="0" indent="0" algn="just">
              <a:buNone/>
            </a:pPr>
            <a:r>
              <a:rPr lang="en-US" sz="2000" dirty="0"/>
              <a:t>High customer churn rates present a significant challenge to business growth and profitability. Understanding the underlying reasons for customer attrition is crucial for developing effective retention strategies. Without a clear understanding of churn drivers, the business risks continued revenue loss and a decline in market share. </a:t>
            </a:r>
            <a:endParaRPr lang="en-IN" sz="2000" dirty="0"/>
          </a:p>
        </p:txBody>
      </p:sp>
    </p:spTree>
    <p:extLst>
      <p:ext uri="{BB962C8B-B14F-4D97-AF65-F5344CB8AC3E}">
        <p14:creationId xmlns:p14="http://schemas.microsoft.com/office/powerpoint/2010/main" val="928762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009457"/>
            <a:ext cx="9905998" cy="1478570"/>
          </a:xfrm>
        </p:spPr>
        <p:txBody>
          <a:bodyPr/>
          <a:lstStyle/>
          <a:p>
            <a:pPr algn="ctr"/>
            <a:r>
              <a:rPr lang="en-US" b="1" dirty="0" smtClean="0"/>
              <a:t>Business objectives</a:t>
            </a:r>
            <a:endParaRPr lang="en-IN" b="1" dirty="0"/>
          </a:p>
        </p:txBody>
      </p:sp>
      <p:sp>
        <p:nvSpPr>
          <p:cNvPr id="3" name="Content Placeholder 2"/>
          <p:cNvSpPr>
            <a:spLocks noGrp="1"/>
          </p:cNvSpPr>
          <p:nvPr>
            <p:ph idx="1"/>
          </p:nvPr>
        </p:nvSpPr>
        <p:spPr>
          <a:xfrm>
            <a:off x="1861205" y="2488027"/>
            <a:ext cx="8466414" cy="3011625"/>
          </a:xfrm>
        </p:spPr>
        <p:txBody>
          <a:bodyPr>
            <a:normAutofit/>
          </a:bodyPr>
          <a:lstStyle/>
          <a:p>
            <a:r>
              <a:rPr lang="en-US" sz="2000" dirty="0"/>
              <a:t>Identify the primary drivers of customer </a:t>
            </a:r>
            <a:r>
              <a:rPr lang="en-US" sz="2000" dirty="0" smtClean="0"/>
              <a:t>churn.</a:t>
            </a:r>
          </a:p>
          <a:p>
            <a:r>
              <a:rPr lang="en-US" sz="2000" dirty="0" smtClean="0"/>
              <a:t>Quantify </a:t>
            </a:r>
            <a:r>
              <a:rPr lang="en-US" sz="2000" dirty="0"/>
              <a:t>the impact of various factors on churn </a:t>
            </a:r>
            <a:r>
              <a:rPr lang="en-US" sz="2000" dirty="0" smtClean="0"/>
              <a:t>probability.</a:t>
            </a:r>
          </a:p>
          <a:p>
            <a:r>
              <a:rPr lang="en-US" sz="2000" dirty="0" smtClean="0"/>
              <a:t>Provide </a:t>
            </a:r>
            <a:r>
              <a:rPr lang="en-US" sz="2000" dirty="0"/>
              <a:t>data-backed recommendations for improving customer </a:t>
            </a:r>
            <a:r>
              <a:rPr lang="en-US" sz="2000" dirty="0" smtClean="0"/>
              <a:t>retention.</a:t>
            </a:r>
          </a:p>
          <a:p>
            <a:r>
              <a:rPr lang="en-US" sz="2000" dirty="0" smtClean="0"/>
              <a:t>Establish </a:t>
            </a:r>
            <a:r>
              <a:rPr lang="en-US" sz="2000" dirty="0"/>
              <a:t>a foundation for ongoing churn monitoring and </a:t>
            </a:r>
            <a:r>
              <a:rPr lang="en-US" sz="2000" dirty="0" smtClean="0"/>
              <a:t>prediction.</a:t>
            </a:r>
          </a:p>
          <a:p>
            <a:r>
              <a:rPr lang="en-US" sz="2000" dirty="0" smtClean="0"/>
              <a:t>Develop </a:t>
            </a:r>
            <a:r>
              <a:rPr lang="en-US" sz="2000" dirty="0"/>
              <a:t>a clear and actionable understanding of customers leading to churn.</a:t>
            </a:r>
            <a:endParaRPr lang="en-IN" sz="2000" dirty="0"/>
          </a:p>
        </p:txBody>
      </p:sp>
    </p:spTree>
    <p:extLst>
      <p:ext uri="{BB962C8B-B14F-4D97-AF65-F5344CB8AC3E}">
        <p14:creationId xmlns:p14="http://schemas.microsoft.com/office/powerpoint/2010/main" val="2953251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846228" y="4293704"/>
            <a:ext cx="8079650" cy="1828799"/>
          </a:xfrm>
        </p:spPr>
        <p:txBody>
          <a:bodyPr>
            <a:normAutofit/>
          </a:bodyPr>
          <a:lstStyle/>
          <a:p>
            <a:pPr algn="ctr"/>
            <a:r>
              <a:rPr lang="en-US" sz="1600" cap="none" dirty="0" smtClean="0"/>
              <a:t>The objective of this project is to identify the major factors associated with customer churn and provide business-focused recommendations</a:t>
            </a:r>
            <a:endParaRPr lang="en-IN" sz="1600" cap="none" dirty="0"/>
          </a:p>
        </p:txBody>
      </p:sp>
      <p:sp>
        <p:nvSpPr>
          <p:cNvPr id="8" name="Content Placeholder 7"/>
          <p:cNvSpPr>
            <a:spLocks noGrp="1"/>
          </p:cNvSpPr>
          <p:nvPr>
            <p:ph sz="half" idx="1"/>
          </p:nvPr>
        </p:nvSpPr>
        <p:spPr>
          <a:xfrm>
            <a:off x="967410" y="1401349"/>
            <a:ext cx="5104536" cy="3806755"/>
          </a:xfrm>
        </p:spPr>
        <p:txBody>
          <a:bodyPr>
            <a:noAutofit/>
          </a:bodyPr>
          <a:lstStyle/>
          <a:p>
            <a:pPr marL="0" indent="0" algn="just">
              <a:buNone/>
            </a:pPr>
            <a:r>
              <a:rPr lang="en-US" sz="2000" dirty="0"/>
              <a:t>The analysis was performed on a comprehensive dataset containing Customer Profile, Core Services, Additional Services, Streaming Services, Contract, Billing, Revenue, number of Customers Churned and Retained. The dataset comprises 7032 records and 8 main features, providing a rich source of information for understanding customer </a:t>
            </a:r>
            <a:r>
              <a:rPr lang="en-US" sz="2000" dirty="0" smtClean="0"/>
              <a:t>behavior</a:t>
            </a:r>
            <a:r>
              <a:rPr lang="en-US" sz="2000" dirty="0"/>
              <a:t>. </a:t>
            </a:r>
            <a:endParaRPr lang="en-IN" sz="2000" dirty="0"/>
          </a:p>
        </p:txBody>
      </p:sp>
      <p:sp>
        <p:nvSpPr>
          <p:cNvPr id="9" name="Content Placeholder 8"/>
          <p:cNvSpPr>
            <a:spLocks noGrp="1"/>
          </p:cNvSpPr>
          <p:nvPr>
            <p:ph sz="half" idx="2"/>
          </p:nvPr>
        </p:nvSpPr>
        <p:spPr>
          <a:xfrm>
            <a:off x="6641789" y="990530"/>
            <a:ext cx="4933121" cy="4217574"/>
          </a:xfrm>
        </p:spPr>
        <p:txBody>
          <a:bodyPr>
            <a:normAutofit/>
          </a:bodyPr>
          <a:lstStyle/>
          <a:p>
            <a:pPr marL="0" indent="0" algn="just">
              <a:buNone/>
            </a:pPr>
            <a:endParaRPr lang="en-US" dirty="0" smtClean="0"/>
          </a:p>
          <a:p>
            <a:pPr marL="0" indent="0" algn="just">
              <a:buNone/>
            </a:pPr>
            <a:r>
              <a:rPr lang="en-US" sz="3200" baseline="-25000" dirty="0" smtClean="0"/>
              <a:t>Total </a:t>
            </a:r>
            <a:r>
              <a:rPr lang="en-US" sz="3200" baseline="-25000" dirty="0" smtClean="0"/>
              <a:t>Customers  - 7032</a:t>
            </a:r>
          </a:p>
          <a:p>
            <a:pPr marL="0" indent="0" algn="just">
              <a:buNone/>
            </a:pPr>
            <a:r>
              <a:rPr lang="en-US" sz="3200" baseline="-25000" dirty="0" smtClean="0"/>
              <a:t>Churned </a:t>
            </a:r>
            <a:r>
              <a:rPr lang="en-US" sz="3200" baseline="-25000" dirty="0"/>
              <a:t>Customers </a:t>
            </a:r>
            <a:r>
              <a:rPr lang="en-US" sz="3200" baseline="-25000" dirty="0" smtClean="0"/>
              <a:t>- </a:t>
            </a:r>
            <a:r>
              <a:rPr lang="en-US" sz="3200" baseline="-25000" dirty="0"/>
              <a:t>26.58</a:t>
            </a:r>
            <a:r>
              <a:rPr lang="en-US" sz="3200" baseline="-25000" dirty="0" smtClean="0"/>
              <a:t>% (1869)</a:t>
            </a:r>
          </a:p>
          <a:p>
            <a:pPr marL="0" indent="0" algn="just">
              <a:buNone/>
            </a:pPr>
            <a:r>
              <a:rPr lang="en-US" sz="3200" baseline="-25000" dirty="0" smtClean="0"/>
              <a:t>Retained Customers - </a:t>
            </a:r>
            <a:r>
              <a:rPr lang="en-US" sz="3200" baseline="-25000" dirty="0"/>
              <a:t>73.42</a:t>
            </a:r>
            <a:r>
              <a:rPr lang="en-US" sz="3200" baseline="-25000" dirty="0" smtClean="0"/>
              <a:t>% (5163)</a:t>
            </a:r>
          </a:p>
          <a:p>
            <a:pPr marL="0" indent="0" algn="just">
              <a:buNone/>
            </a:pPr>
            <a:r>
              <a:rPr lang="en-US" sz="3200" baseline="-25000" dirty="0"/>
              <a:t>1</a:t>
            </a:r>
            <a:r>
              <a:rPr lang="en-US" sz="3200" baseline="-25000" dirty="0" smtClean="0"/>
              <a:t>0</a:t>
            </a:r>
            <a:r>
              <a:rPr lang="en-US" sz="3200" baseline="-25000" dirty="0"/>
              <a:t>+ </a:t>
            </a:r>
            <a:r>
              <a:rPr lang="en-US" sz="3200" baseline="-25000" dirty="0" smtClean="0"/>
              <a:t>Business </a:t>
            </a:r>
            <a:r>
              <a:rPr lang="en-US" sz="3200" baseline="-25000" dirty="0"/>
              <a:t>Factors </a:t>
            </a:r>
            <a:r>
              <a:rPr lang="en-US" sz="3200" baseline="-25000" dirty="0" smtClean="0"/>
              <a:t>Analyzed</a:t>
            </a:r>
            <a:endParaRPr lang="en-US" sz="3200" baseline="-25000" dirty="0"/>
          </a:p>
          <a:p>
            <a:pPr marL="0" indent="0" algn="just">
              <a:buNone/>
            </a:pPr>
            <a:endParaRPr lang="en-IN" baseline="-25000" dirty="0" smtClean="0"/>
          </a:p>
        </p:txBody>
      </p:sp>
    </p:spTree>
    <p:extLst>
      <p:ext uri="{BB962C8B-B14F-4D97-AF65-F5344CB8AC3E}">
        <p14:creationId xmlns:p14="http://schemas.microsoft.com/office/powerpoint/2010/main" val="953206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41412" y="929944"/>
            <a:ext cx="9905998" cy="1478570"/>
          </a:xfrm>
        </p:spPr>
        <p:txBody>
          <a:bodyPr/>
          <a:lstStyle/>
          <a:p>
            <a:pPr algn="ctr"/>
            <a:r>
              <a:rPr lang="en-US" dirty="0" smtClean="0"/>
              <a:t>Project methodology</a:t>
            </a:r>
            <a:endParaRPr lang="en-IN" dirty="0"/>
          </a:p>
        </p:txBody>
      </p:sp>
      <p:sp>
        <p:nvSpPr>
          <p:cNvPr id="6" name="Content Placeholder 5"/>
          <p:cNvSpPr>
            <a:spLocks noGrp="1"/>
          </p:cNvSpPr>
          <p:nvPr>
            <p:ph idx="1"/>
          </p:nvPr>
        </p:nvSpPr>
        <p:spPr>
          <a:xfrm>
            <a:off x="745571" y="2408514"/>
            <a:ext cx="10697681" cy="3303174"/>
          </a:xfrm>
        </p:spPr>
        <p:txBody>
          <a:bodyPr>
            <a:noAutofit/>
          </a:bodyPr>
          <a:lstStyle/>
          <a:p>
            <a:pPr marL="457200" indent="-457200" algn="just">
              <a:buAutoNum type="arabicPeriod"/>
            </a:pPr>
            <a:r>
              <a:rPr lang="en-US" sz="1800" b="1" dirty="0" smtClean="0"/>
              <a:t>Data </a:t>
            </a:r>
            <a:r>
              <a:rPr lang="en-US" sz="1800" b="1" dirty="0"/>
              <a:t>Extraction &amp; Understanding</a:t>
            </a:r>
            <a:r>
              <a:rPr lang="en-US" sz="1800" dirty="0"/>
              <a:t>: Retrieved relevant data using </a:t>
            </a:r>
            <a:r>
              <a:rPr lang="en-US" sz="1800" dirty="0" smtClean="0"/>
              <a:t>Excel </a:t>
            </a:r>
            <a:r>
              <a:rPr lang="en-US" sz="1800" dirty="0"/>
              <a:t>and performed an initial exploration to understand data structure and quality. </a:t>
            </a:r>
            <a:endParaRPr lang="en-US" sz="1800" dirty="0" smtClean="0"/>
          </a:p>
          <a:p>
            <a:pPr marL="457200" indent="-457200" algn="just">
              <a:buAutoNum type="arabicPeriod"/>
            </a:pPr>
            <a:r>
              <a:rPr lang="en-US" sz="1800" b="1" dirty="0" smtClean="0"/>
              <a:t>Data </a:t>
            </a:r>
            <a:r>
              <a:rPr lang="en-US" sz="1800" b="1" dirty="0"/>
              <a:t>Cleaning &amp; Pre-processing</a:t>
            </a:r>
            <a:r>
              <a:rPr lang="en-US" sz="1800" dirty="0"/>
              <a:t>: Handled missing values, corrected inconsistencies, and transformed data into a suitable format for </a:t>
            </a:r>
            <a:r>
              <a:rPr lang="en-US" sz="1800" dirty="0" smtClean="0"/>
              <a:t>analysis using Python</a:t>
            </a:r>
          </a:p>
          <a:p>
            <a:pPr marL="457200" indent="-457200" algn="just">
              <a:buAutoNum type="arabicPeriod"/>
            </a:pPr>
            <a:r>
              <a:rPr lang="en-US" sz="1800" b="1" dirty="0" smtClean="0"/>
              <a:t>Exploratory </a:t>
            </a:r>
            <a:r>
              <a:rPr lang="en-US" sz="1800" b="1" dirty="0"/>
              <a:t>Data Analysis (EDA): </a:t>
            </a:r>
            <a:r>
              <a:rPr lang="en-US" sz="1800" dirty="0" smtClean="0"/>
              <a:t>Analyzed </a:t>
            </a:r>
            <a:r>
              <a:rPr lang="en-US" sz="1800" dirty="0"/>
              <a:t>key variables and their relationships with churn </a:t>
            </a:r>
            <a:r>
              <a:rPr lang="en-US" sz="1800" dirty="0" smtClean="0"/>
              <a:t>using SQL.</a:t>
            </a:r>
          </a:p>
          <a:p>
            <a:pPr marL="457200" indent="-457200" algn="just">
              <a:buAutoNum type="arabicPeriod"/>
            </a:pPr>
            <a:r>
              <a:rPr lang="en-US" sz="1800" b="1" dirty="0" smtClean="0"/>
              <a:t>Churn </a:t>
            </a:r>
            <a:r>
              <a:rPr lang="en-US" sz="1800" b="1" dirty="0"/>
              <a:t>Driver Identification</a:t>
            </a:r>
            <a:r>
              <a:rPr lang="en-US" sz="1800" dirty="0"/>
              <a:t>: Identified and quantified the factors most strongly associated with customer </a:t>
            </a:r>
            <a:r>
              <a:rPr lang="en-US" sz="1800" dirty="0" smtClean="0"/>
              <a:t>churn.</a:t>
            </a:r>
          </a:p>
          <a:p>
            <a:pPr marL="457200" indent="-457200" algn="just">
              <a:buAutoNum type="arabicPeriod"/>
            </a:pPr>
            <a:r>
              <a:rPr lang="en-US" sz="1800" b="1" dirty="0" smtClean="0"/>
              <a:t>Visualization </a:t>
            </a:r>
            <a:r>
              <a:rPr lang="en-US" sz="1800" b="1" dirty="0"/>
              <a:t>&amp; Reporting</a:t>
            </a:r>
            <a:r>
              <a:rPr lang="en-US" sz="1800" dirty="0"/>
              <a:t>: Developed Power BI dashboards to present findings and created this comprehensive report. </a:t>
            </a:r>
            <a:endParaRPr lang="en-IN" sz="1800" dirty="0"/>
          </a:p>
        </p:txBody>
      </p:sp>
    </p:spTree>
    <p:extLst>
      <p:ext uri="{BB962C8B-B14F-4D97-AF65-F5344CB8AC3E}">
        <p14:creationId xmlns:p14="http://schemas.microsoft.com/office/powerpoint/2010/main" val="2201279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387" y="910066"/>
            <a:ext cx="9905998" cy="1478570"/>
          </a:xfrm>
        </p:spPr>
        <p:txBody>
          <a:bodyPr/>
          <a:lstStyle/>
          <a:p>
            <a:pPr algn="ctr"/>
            <a:r>
              <a:rPr lang="en-US" b="1" dirty="0" smtClean="0"/>
              <a:t>Dashboard overview</a:t>
            </a:r>
            <a:endParaRPr lang="en-IN" b="1" dirty="0"/>
          </a:p>
        </p:txBody>
      </p:sp>
      <p:sp>
        <p:nvSpPr>
          <p:cNvPr id="3" name="Content Placeholder 2"/>
          <p:cNvSpPr>
            <a:spLocks noGrp="1"/>
          </p:cNvSpPr>
          <p:nvPr>
            <p:ph idx="1"/>
          </p:nvPr>
        </p:nvSpPr>
        <p:spPr>
          <a:xfrm>
            <a:off x="1393203" y="2249487"/>
            <a:ext cx="9905999" cy="3541714"/>
          </a:xfrm>
        </p:spPr>
        <p:txBody>
          <a:bodyPr>
            <a:normAutofit lnSpcReduction="10000"/>
          </a:bodyPr>
          <a:lstStyle/>
          <a:p>
            <a:pPr marL="0" indent="0" algn="just">
              <a:buNone/>
            </a:pPr>
            <a:r>
              <a:rPr lang="en-US" sz="1800" dirty="0"/>
              <a:t>The accompanying Power BI dashboard provides a dynamic and interactive view of customer churn. </a:t>
            </a:r>
            <a:endParaRPr lang="en-US" sz="1800" dirty="0" smtClean="0"/>
          </a:p>
          <a:p>
            <a:pPr marL="0" indent="0" algn="just">
              <a:buNone/>
            </a:pPr>
            <a:r>
              <a:rPr lang="en-US" sz="1800" dirty="0" smtClean="0"/>
              <a:t>Key </a:t>
            </a:r>
            <a:r>
              <a:rPr lang="en-US" sz="1800" dirty="0"/>
              <a:t>features </a:t>
            </a:r>
            <a:r>
              <a:rPr lang="en-US" sz="1800" dirty="0" smtClean="0"/>
              <a:t>include:</a:t>
            </a:r>
          </a:p>
          <a:p>
            <a:pPr algn="just"/>
            <a:r>
              <a:rPr lang="en-US" sz="1800" b="1" dirty="0" smtClean="0"/>
              <a:t>Overall </a:t>
            </a:r>
            <a:r>
              <a:rPr lang="en-US" sz="1800" b="1" dirty="0"/>
              <a:t>Churn Rate:</a:t>
            </a:r>
            <a:r>
              <a:rPr lang="en-US" sz="1800" dirty="0"/>
              <a:t> A clear indicator of the current churn </a:t>
            </a:r>
            <a:r>
              <a:rPr lang="en-US" sz="1800" dirty="0" smtClean="0"/>
              <a:t>situation.</a:t>
            </a:r>
          </a:p>
          <a:p>
            <a:pPr algn="just"/>
            <a:r>
              <a:rPr lang="en-US" sz="1800" b="1" dirty="0" smtClean="0"/>
              <a:t>Churn </a:t>
            </a:r>
            <a:r>
              <a:rPr lang="en-US" sz="1800" b="1" dirty="0"/>
              <a:t>by Demographics:</a:t>
            </a:r>
            <a:r>
              <a:rPr lang="en-US" sz="1800" dirty="0"/>
              <a:t> Breakdown of churn across different age groups, genders, and </a:t>
            </a:r>
            <a:r>
              <a:rPr lang="en-US" sz="1800" dirty="0" smtClean="0"/>
              <a:t>locations.</a:t>
            </a:r>
          </a:p>
          <a:p>
            <a:pPr algn="just"/>
            <a:r>
              <a:rPr lang="en-US" sz="1800" b="1" dirty="0" smtClean="0"/>
              <a:t>Service </a:t>
            </a:r>
            <a:r>
              <a:rPr lang="en-US" sz="1800" b="1" dirty="0"/>
              <a:t>Usage Impact:</a:t>
            </a:r>
            <a:r>
              <a:rPr lang="en-US" sz="1800" dirty="0"/>
              <a:t> Visualization of how usage patterns affect </a:t>
            </a:r>
            <a:r>
              <a:rPr lang="en-US" sz="1800" dirty="0" smtClean="0"/>
              <a:t>churn.</a:t>
            </a:r>
          </a:p>
          <a:p>
            <a:pPr algn="just"/>
            <a:r>
              <a:rPr lang="en-US" sz="1800" b="1" dirty="0" smtClean="0"/>
              <a:t>Contractual </a:t>
            </a:r>
            <a:r>
              <a:rPr lang="en-US" sz="1800" b="1" dirty="0"/>
              <a:t>Factors:</a:t>
            </a:r>
            <a:r>
              <a:rPr lang="en-US" sz="1800" dirty="0"/>
              <a:t> Analysis of churn based on contract type, tenure, and </a:t>
            </a:r>
            <a:r>
              <a:rPr lang="en-US" sz="1800" dirty="0" smtClean="0"/>
              <a:t>charges.</a:t>
            </a:r>
          </a:p>
          <a:p>
            <a:pPr algn="just"/>
            <a:r>
              <a:rPr lang="en-US" sz="1800" b="1" dirty="0" smtClean="0"/>
              <a:t>Customer </a:t>
            </a:r>
            <a:r>
              <a:rPr lang="en-US" sz="1800" b="1" dirty="0"/>
              <a:t>Support Trends:</a:t>
            </a:r>
            <a:r>
              <a:rPr lang="en-US" sz="1800" dirty="0"/>
              <a:t> Insights into the relationship between support interactions and </a:t>
            </a:r>
            <a:r>
              <a:rPr lang="en-US" sz="1800" dirty="0" smtClean="0"/>
              <a:t>churn.</a:t>
            </a:r>
          </a:p>
          <a:p>
            <a:pPr algn="just"/>
            <a:r>
              <a:rPr lang="en-US" sz="1800" b="1" dirty="0" smtClean="0"/>
              <a:t>Key </a:t>
            </a:r>
            <a:r>
              <a:rPr lang="en-US" sz="1800" b="1" dirty="0"/>
              <a:t>Churn Drivers:</a:t>
            </a:r>
            <a:r>
              <a:rPr lang="en-US" sz="1800" dirty="0"/>
              <a:t> Highlights of the most influential factors contributing to churn</a:t>
            </a:r>
            <a:endParaRPr lang="en-IN" sz="1800" dirty="0"/>
          </a:p>
        </p:txBody>
      </p:sp>
    </p:spTree>
    <p:extLst>
      <p:ext uri="{BB962C8B-B14F-4D97-AF65-F5344CB8AC3E}">
        <p14:creationId xmlns:p14="http://schemas.microsoft.com/office/powerpoint/2010/main" val="3718843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024" y="1143096"/>
            <a:ext cx="10323445" cy="5337218"/>
          </a:xfrm>
          <a:prstGeom prst="rect">
            <a:avLst/>
          </a:prstGeom>
        </p:spPr>
      </p:pic>
      <p:sp>
        <p:nvSpPr>
          <p:cNvPr id="7" name="TextBox 6"/>
          <p:cNvSpPr txBox="1"/>
          <p:nvPr/>
        </p:nvSpPr>
        <p:spPr>
          <a:xfrm>
            <a:off x="3273287" y="442460"/>
            <a:ext cx="5857460" cy="523220"/>
          </a:xfrm>
          <a:prstGeom prst="rect">
            <a:avLst/>
          </a:prstGeom>
          <a:noFill/>
        </p:spPr>
        <p:txBody>
          <a:bodyPr wrap="square" rtlCol="0">
            <a:spAutoFit/>
          </a:bodyPr>
          <a:lstStyle/>
          <a:p>
            <a:r>
              <a:rPr lang="en-US" sz="2800" b="1" u="sng" dirty="0" smtClean="0"/>
              <a:t>Customer Profile and Core Services</a:t>
            </a:r>
            <a:endParaRPr lang="en-IN" sz="2800" b="1" u="sng" dirty="0"/>
          </a:p>
        </p:txBody>
      </p:sp>
    </p:spTree>
    <p:extLst>
      <p:ext uri="{BB962C8B-B14F-4D97-AF65-F5344CB8AC3E}">
        <p14:creationId xmlns:p14="http://schemas.microsoft.com/office/powerpoint/2010/main" val="2126357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929" y="1033669"/>
            <a:ext cx="10320882" cy="5565913"/>
          </a:xfrm>
          <a:prstGeom prst="rect">
            <a:avLst/>
          </a:prstGeom>
        </p:spPr>
      </p:pic>
      <p:sp>
        <p:nvSpPr>
          <p:cNvPr id="5" name="TextBox 4"/>
          <p:cNvSpPr txBox="1"/>
          <p:nvPr/>
        </p:nvSpPr>
        <p:spPr>
          <a:xfrm>
            <a:off x="2981109" y="338171"/>
            <a:ext cx="6228522" cy="523220"/>
          </a:xfrm>
          <a:prstGeom prst="rect">
            <a:avLst/>
          </a:prstGeom>
          <a:noFill/>
        </p:spPr>
        <p:txBody>
          <a:bodyPr wrap="square" rtlCol="0">
            <a:spAutoFit/>
          </a:bodyPr>
          <a:lstStyle/>
          <a:p>
            <a:r>
              <a:rPr lang="en-US" sz="2800" b="1" u="sng" dirty="0" smtClean="0"/>
              <a:t>Additional Services and Billing Methods</a:t>
            </a:r>
            <a:endParaRPr lang="en-IN" sz="2800" b="1" u="sng" dirty="0"/>
          </a:p>
        </p:txBody>
      </p:sp>
    </p:spTree>
    <p:extLst>
      <p:ext uri="{BB962C8B-B14F-4D97-AF65-F5344CB8AC3E}">
        <p14:creationId xmlns:p14="http://schemas.microsoft.com/office/powerpoint/2010/main" val="1365808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491" y="970805"/>
            <a:ext cx="9905998" cy="1478570"/>
          </a:xfrm>
        </p:spPr>
        <p:txBody>
          <a:bodyPr/>
          <a:lstStyle/>
          <a:p>
            <a:pPr algn="ctr"/>
            <a:r>
              <a:rPr lang="en-US" b="1" dirty="0" smtClean="0"/>
              <a:t>Business insights</a:t>
            </a:r>
            <a:endParaRPr lang="en-IN" b="1" dirty="0"/>
          </a:p>
        </p:txBody>
      </p:sp>
      <p:sp>
        <p:nvSpPr>
          <p:cNvPr id="4" name="Rectangle 1"/>
          <p:cNvSpPr>
            <a:spLocks noGrp="1" noChangeArrowheads="1"/>
          </p:cNvSpPr>
          <p:nvPr>
            <p:ph idx="1"/>
          </p:nvPr>
        </p:nvSpPr>
        <p:spPr bwMode="auto">
          <a:xfrm>
            <a:off x="636464" y="2449375"/>
            <a:ext cx="1083991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SzTx/>
            </a:pPr>
            <a:r>
              <a:rPr kumimoji="0" lang="en-US" altLang="en-US" sz="2000" b="0" i="0" u="none" strike="noStrike" cap="none" normalizeH="0" baseline="0" dirty="0" smtClean="0">
                <a:ln>
                  <a:noFill/>
                </a:ln>
                <a:solidFill>
                  <a:schemeClr val="tx1"/>
                </a:solidFill>
                <a:effectLst/>
                <a:latin typeface="Arial" panose="020B0604020202020204" pitchFamily="34" charset="0"/>
              </a:rPr>
              <a:t>Overall churn rate is </a:t>
            </a:r>
            <a:r>
              <a:rPr kumimoji="0" lang="en-US" altLang="en-US" sz="2000" b="1" i="0" u="none" strike="noStrike" cap="none" normalizeH="0" baseline="0" dirty="0" smtClean="0">
                <a:ln>
                  <a:noFill/>
                </a:ln>
                <a:solidFill>
                  <a:schemeClr val="tx1"/>
                </a:solidFill>
                <a:effectLst/>
                <a:latin typeface="Arial" panose="020B0604020202020204" pitchFamily="34" charset="0"/>
              </a:rPr>
              <a:t>26.58%</a:t>
            </a:r>
            <a:r>
              <a:rPr kumimoji="0" lang="en-US" altLang="en-US" sz="2000" b="0" i="0" u="none" strike="noStrike" cap="none" normalizeH="0" baseline="0" dirty="0" smtClean="0">
                <a:ln>
                  <a:noFill/>
                </a:ln>
                <a:solidFill>
                  <a:schemeClr val="tx1"/>
                </a:solidFill>
                <a:effectLst/>
                <a:latin typeface="Arial" panose="020B0604020202020204" pitchFamily="34" charset="0"/>
              </a:rPr>
              <a:t> (1 in every 4 customers leaves). </a:t>
            </a:r>
          </a:p>
          <a:p>
            <a:pPr algn="just" eaLnBrk="0" fontAlgn="base" hangingPunct="0">
              <a:lnSpc>
                <a:spcPct val="100000"/>
              </a:lnSpc>
              <a:spcBef>
                <a:spcPct val="0"/>
              </a:spcBef>
              <a:spcAft>
                <a:spcPct val="0"/>
              </a:spcAft>
              <a:buSzTx/>
            </a:pPr>
            <a:r>
              <a:rPr kumimoji="0" lang="en-US" altLang="en-US" sz="2000" b="0" i="0" u="none" strike="noStrike" cap="none" normalizeH="0" baseline="0" dirty="0" smtClean="0">
                <a:ln>
                  <a:noFill/>
                </a:ln>
                <a:solidFill>
                  <a:schemeClr val="tx1"/>
                </a:solidFill>
                <a:effectLst/>
                <a:latin typeface="Arial" panose="020B0604020202020204" pitchFamily="34" charset="0"/>
              </a:rPr>
              <a:t>Month-to-Month contracts contribute the highest share of customer churn. </a:t>
            </a:r>
          </a:p>
          <a:p>
            <a:pPr algn="just" eaLnBrk="0" fontAlgn="base" hangingPunct="0">
              <a:lnSpc>
                <a:spcPct val="100000"/>
              </a:lnSpc>
              <a:spcBef>
                <a:spcPct val="0"/>
              </a:spcBef>
              <a:spcAft>
                <a:spcPct val="0"/>
              </a:spcAft>
              <a:buSzTx/>
            </a:pPr>
            <a:r>
              <a:rPr kumimoji="0" lang="en-US" altLang="en-US" sz="2000" b="0" i="0" u="none" strike="noStrike" cap="none" normalizeH="0" baseline="0" dirty="0" smtClean="0">
                <a:ln>
                  <a:noFill/>
                </a:ln>
                <a:solidFill>
                  <a:schemeClr val="tx1"/>
                </a:solidFill>
                <a:effectLst/>
                <a:latin typeface="Arial" panose="020B0604020202020204" pitchFamily="34" charset="0"/>
              </a:rPr>
              <a:t>Fiber Optic customers represent the largest churn segment among internet service types. </a:t>
            </a:r>
          </a:p>
          <a:p>
            <a:pPr algn="just" eaLnBrk="0" fontAlgn="base" hangingPunct="0">
              <a:lnSpc>
                <a:spcPct val="100000"/>
              </a:lnSpc>
              <a:spcBef>
                <a:spcPct val="0"/>
              </a:spcBef>
              <a:spcAft>
                <a:spcPct val="0"/>
              </a:spcAft>
              <a:buSzTx/>
            </a:pPr>
            <a:r>
              <a:rPr kumimoji="0" lang="en-US" altLang="en-US" sz="2000" b="0" i="0" u="none" strike="noStrike" cap="none" normalizeH="0" baseline="0" dirty="0" smtClean="0">
                <a:ln>
                  <a:noFill/>
                </a:ln>
                <a:solidFill>
                  <a:schemeClr val="tx1"/>
                </a:solidFill>
                <a:effectLst/>
                <a:latin typeface="Arial" panose="020B0604020202020204" pitchFamily="34" charset="0"/>
              </a:rPr>
              <a:t>Customers with shorter tenure are more likely to churn. </a:t>
            </a:r>
          </a:p>
          <a:p>
            <a:pPr algn="just" eaLnBrk="0" fontAlgn="base" hangingPunct="0">
              <a:lnSpc>
                <a:spcPct val="100000"/>
              </a:lnSpc>
              <a:spcBef>
                <a:spcPct val="0"/>
              </a:spcBef>
              <a:spcAft>
                <a:spcPct val="0"/>
              </a:spcAft>
              <a:buSzTx/>
            </a:pPr>
            <a:r>
              <a:rPr kumimoji="0" lang="en-US" altLang="en-US" sz="2000" b="0" i="0" u="none" strike="noStrike" cap="none" normalizeH="0" baseline="0" dirty="0" smtClean="0">
                <a:ln>
                  <a:noFill/>
                </a:ln>
                <a:solidFill>
                  <a:schemeClr val="tx1"/>
                </a:solidFill>
                <a:effectLst/>
                <a:latin typeface="Arial" panose="020B0604020202020204" pitchFamily="34" charset="0"/>
              </a:rPr>
              <a:t>Customers without Online Security, Online Backup, Device Protection, and Tech Support</a:t>
            </a:r>
            <a:r>
              <a:rPr kumimoji="0" lang="en-US" altLang="en-US" sz="2000" b="0" i="0" u="none" strike="noStrike" cap="none" normalizeH="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panose="020B0604020202020204" pitchFamily="34" charset="0"/>
              </a:rPr>
              <a:t>consistently show higher churn. </a:t>
            </a:r>
          </a:p>
          <a:p>
            <a:pPr algn="just" eaLnBrk="0" fontAlgn="base" hangingPunct="0">
              <a:lnSpc>
                <a:spcPct val="100000"/>
              </a:lnSpc>
              <a:spcBef>
                <a:spcPct val="0"/>
              </a:spcBef>
              <a:spcAft>
                <a:spcPct val="0"/>
              </a:spcAft>
              <a:buSzTx/>
            </a:pPr>
            <a:r>
              <a:rPr kumimoji="0" lang="en-US" altLang="en-US" sz="2000" b="0" i="0" u="none" strike="noStrike" cap="none" normalizeH="0" baseline="0" dirty="0" smtClean="0">
                <a:ln>
                  <a:noFill/>
                </a:ln>
                <a:solidFill>
                  <a:schemeClr val="tx1"/>
                </a:solidFill>
                <a:effectLst/>
                <a:latin typeface="Arial" panose="020B0604020202020204" pitchFamily="34" charset="0"/>
              </a:rPr>
              <a:t>Electronic Check users exhibit higher churn than customers using other payment methods. </a:t>
            </a:r>
          </a:p>
          <a:p>
            <a:pPr algn="just" eaLnBrk="0" fontAlgn="base" hangingPunct="0">
              <a:lnSpc>
                <a:spcPct val="100000"/>
              </a:lnSpc>
              <a:spcBef>
                <a:spcPct val="0"/>
              </a:spcBef>
              <a:spcAft>
                <a:spcPct val="0"/>
              </a:spcAft>
              <a:buSzTx/>
            </a:pPr>
            <a:r>
              <a:rPr kumimoji="0" lang="en-US" altLang="en-US" sz="2000" b="0" i="0" u="none" strike="noStrike" cap="none" normalizeH="0" baseline="0" dirty="0" smtClean="0">
                <a:ln>
                  <a:noFill/>
                </a:ln>
                <a:solidFill>
                  <a:schemeClr val="tx1"/>
                </a:solidFill>
                <a:effectLst/>
                <a:latin typeface="Arial" panose="020B0604020202020204" pitchFamily="34" charset="0"/>
              </a:rPr>
              <a:t>Streaming Services and Phone Service show comparatively weaker relationships with churn. </a:t>
            </a:r>
          </a:p>
        </p:txBody>
      </p:sp>
    </p:spTree>
    <p:extLst>
      <p:ext uri="{BB962C8B-B14F-4D97-AF65-F5344CB8AC3E}">
        <p14:creationId xmlns:p14="http://schemas.microsoft.com/office/powerpoint/2010/main" val="3954290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187964"/>
            <a:ext cx="9905998" cy="1478570"/>
          </a:xfrm>
        </p:spPr>
        <p:txBody>
          <a:bodyPr/>
          <a:lstStyle/>
          <a:p>
            <a:pPr algn="ctr"/>
            <a:r>
              <a:rPr lang="en-US" b="1" dirty="0" smtClean="0"/>
              <a:t>Business recommendations</a:t>
            </a:r>
            <a:endParaRPr lang="en-IN" b="1" dirty="0"/>
          </a:p>
        </p:txBody>
      </p:sp>
      <p:sp>
        <p:nvSpPr>
          <p:cNvPr id="4" name="Rectangle 1"/>
          <p:cNvSpPr>
            <a:spLocks noGrp="1" noChangeArrowheads="1"/>
          </p:cNvSpPr>
          <p:nvPr>
            <p:ph idx="1"/>
          </p:nvPr>
        </p:nvSpPr>
        <p:spPr bwMode="auto">
          <a:xfrm>
            <a:off x="1166234" y="2666534"/>
            <a:ext cx="9856353" cy="2205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00000"/>
              </a:lnSpc>
            </a:pPr>
            <a:r>
              <a:rPr lang="en-US" sz="2000" dirty="0"/>
              <a:t>Develop targeted retention campaigns for Month-to-Month customers.</a:t>
            </a:r>
          </a:p>
          <a:p>
            <a:pPr>
              <a:lnSpc>
                <a:spcPct val="100000"/>
              </a:lnSpc>
            </a:pPr>
            <a:r>
              <a:rPr lang="en-US" sz="2000" dirty="0"/>
              <a:t>Investigate the reasons behind higher churn among Fiber Optic customers.</a:t>
            </a:r>
          </a:p>
          <a:p>
            <a:pPr>
              <a:lnSpc>
                <a:spcPct val="100000"/>
              </a:lnSpc>
            </a:pPr>
            <a:r>
              <a:rPr lang="en-US" sz="2000" dirty="0"/>
              <a:t>Strengthen customer engagement during the early months of the customer lifecycle.</a:t>
            </a:r>
          </a:p>
          <a:p>
            <a:pPr>
              <a:lnSpc>
                <a:spcPct val="100000"/>
              </a:lnSpc>
            </a:pPr>
            <a:r>
              <a:rPr lang="en-US" sz="2000" dirty="0"/>
              <a:t>Promote value-added services such as Online Security and Tech Support where appropriate.</a:t>
            </a:r>
          </a:p>
          <a:p>
            <a:pPr>
              <a:lnSpc>
                <a:spcPct val="100000"/>
              </a:lnSpc>
            </a:pPr>
            <a:r>
              <a:rPr lang="en-US" sz="2000" dirty="0"/>
              <a:t>Review the Electronic Check payment experience and evaluate improvements.</a:t>
            </a:r>
          </a:p>
        </p:txBody>
      </p:sp>
    </p:spTree>
    <p:extLst>
      <p:ext uri="{BB962C8B-B14F-4D97-AF65-F5344CB8AC3E}">
        <p14:creationId xmlns:p14="http://schemas.microsoft.com/office/powerpoint/2010/main" val="3211741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913313"/>
            <a:ext cx="9905998" cy="1478570"/>
          </a:xfrm>
        </p:spPr>
        <p:txBody>
          <a:bodyPr/>
          <a:lstStyle/>
          <a:p>
            <a:pPr algn="ctr"/>
            <a:r>
              <a:rPr lang="en-US" b="1" dirty="0" smtClean="0"/>
              <a:t>conclusion</a:t>
            </a:r>
            <a:endParaRPr lang="en-IN" b="1" dirty="0"/>
          </a:p>
        </p:txBody>
      </p:sp>
      <p:sp>
        <p:nvSpPr>
          <p:cNvPr id="3" name="Content Placeholder 2"/>
          <p:cNvSpPr>
            <a:spLocks noGrp="1"/>
          </p:cNvSpPr>
          <p:nvPr>
            <p:ph idx="1"/>
          </p:nvPr>
        </p:nvSpPr>
        <p:spPr>
          <a:xfrm>
            <a:off x="1302712" y="2391883"/>
            <a:ext cx="9583398" cy="3018252"/>
          </a:xfrm>
        </p:spPr>
        <p:txBody>
          <a:bodyPr>
            <a:normAutofit/>
          </a:bodyPr>
          <a:lstStyle/>
          <a:p>
            <a:pPr marL="0" indent="0" algn="just">
              <a:buNone/>
            </a:pPr>
            <a:r>
              <a:rPr lang="en-US" sz="2000" dirty="0"/>
              <a:t>This customer churn analysis identified the key factors associated with customer attrition using </a:t>
            </a:r>
            <a:r>
              <a:rPr lang="en-US" sz="2000" dirty="0" smtClean="0"/>
              <a:t>Python, SQL </a:t>
            </a:r>
            <a:r>
              <a:rPr lang="en-US" sz="2000" dirty="0"/>
              <a:t>and Power BI. Customers with </a:t>
            </a:r>
            <a:r>
              <a:rPr lang="en-US" sz="2000" b="1" dirty="0"/>
              <a:t>Month-to-Month contracts</a:t>
            </a:r>
            <a:r>
              <a:rPr lang="en-US" sz="2000" dirty="0"/>
              <a:t>, </a:t>
            </a:r>
            <a:r>
              <a:rPr lang="en-US" sz="2000" b="1" dirty="0"/>
              <a:t>Fiber Optic internet</a:t>
            </a:r>
            <a:r>
              <a:rPr lang="en-US" sz="2000" dirty="0"/>
              <a:t>, </a:t>
            </a:r>
            <a:r>
              <a:rPr lang="en-US" sz="2000" b="1" dirty="0"/>
              <a:t>shorter tenure</a:t>
            </a:r>
            <a:r>
              <a:rPr lang="en-US" sz="2000" dirty="0"/>
              <a:t>, and </a:t>
            </a:r>
            <a:r>
              <a:rPr lang="en-US" sz="2000" b="1" dirty="0"/>
              <a:t>fewer additional services</a:t>
            </a:r>
            <a:r>
              <a:rPr lang="en-US" sz="2000" dirty="0"/>
              <a:t> contributed a larger share of churn. The findings highlight customer segments that require greater attention and support. These insights can help the company make informed decisions, improve customer retention strategies, and enhance overall business performance through data-driven decision-making.</a:t>
            </a:r>
            <a:endParaRPr lang="en-IN" sz="2000" dirty="0"/>
          </a:p>
        </p:txBody>
      </p:sp>
    </p:spTree>
    <p:extLst>
      <p:ext uri="{BB962C8B-B14F-4D97-AF65-F5344CB8AC3E}">
        <p14:creationId xmlns:p14="http://schemas.microsoft.com/office/powerpoint/2010/main" val="2333724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84</TotalTime>
  <Words>736</Words>
  <Application>Microsoft Office PowerPoint</Application>
  <PresentationFormat>Widescreen</PresentationFormat>
  <Paragraphs>55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Tw Cen MT</vt:lpstr>
      <vt:lpstr>Circuit</vt:lpstr>
      <vt:lpstr>IBM TELCO customer CHURN ANALYsIS </vt:lpstr>
      <vt:lpstr>Executive Summary</vt:lpstr>
      <vt:lpstr>Business problem</vt:lpstr>
      <vt:lpstr>Business objectives</vt:lpstr>
      <vt:lpstr>The objective of this project is to identify the major factors associated with customer churn and provide business-focused recommendations</vt:lpstr>
      <vt:lpstr>Project methodology</vt:lpstr>
      <vt:lpstr>Dashboard overview</vt:lpstr>
      <vt:lpstr>PowerPoint Presentation</vt:lpstr>
      <vt:lpstr>PowerPoint Presentation</vt:lpstr>
      <vt:lpstr>Business insights</vt:lpstr>
      <vt:lpstr>Business 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TELCO CHURN ANALYIS</dc:title>
  <dc:creator>HP</dc:creator>
  <cp:lastModifiedBy>HP</cp:lastModifiedBy>
  <cp:revision>9</cp:revision>
  <dcterms:created xsi:type="dcterms:W3CDTF">2026-07-23T07:59:48Z</dcterms:created>
  <dcterms:modified xsi:type="dcterms:W3CDTF">2026-07-23T14:15:08Z</dcterms:modified>
</cp:coreProperties>
</file>